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微软雅黑"/>
                <a:ea typeface="微软雅黑"/>
              </a:rPr>
              <a:t>❓  小问号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146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苏格拉底 × 费曼 主动学习智能体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FFE3D3"/>
                </a:solidFill>
                <a:latin typeface="微软雅黑"/>
                <a:ea typeface="微软雅黑"/>
              </a:rPr>
              <a:t>让 AI 从「替学生回答」转向「引导学生学会思考」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297680"/>
            <a:ext cx="329184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6634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FE3D3"/>
                </a:solidFill>
                <a:latin typeface="微软雅黑"/>
                <a:ea typeface="微软雅黑"/>
              </a:rPr>
              <a:t>小学 3-6 年级 · 信息科技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E3D3"/>
                </a:solidFill>
                <a:latin typeface="微软雅黑"/>
                <a:ea typeface="微软雅黑"/>
              </a:rPr>
              <a:t>技术底座：DeepSeek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E2A27"/>
                </a:solidFill>
                <a:latin typeface="微软雅黑"/>
                <a:ea typeface="微软雅黑"/>
              </a:rPr>
              <a:t>一、AI 越会答，学生越学不到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45720"/>
          </a:xfrm>
          <a:prstGeom prst="rect">
            <a:avLst/>
          </a:prstGeom>
          <a:solidFill>
            <a:srgbClr val="E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A817C"/>
                </a:solidFill>
                <a:latin typeface="微软雅黑"/>
                <a:ea typeface="微软雅黑"/>
              </a:rPr>
              <a:t>传统 AI 助教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31720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8A817C"/>
                </a:solidFill>
                <a:latin typeface="微软雅黑"/>
                <a:ea typeface="微软雅黑"/>
              </a:rPr>
              <a:t>学生问 → AI 答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200400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015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8A817C"/>
                </a:solidFill>
                <a:latin typeface="微软雅黑"/>
                <a:ea typeface="微软雅黑"/>
              </a:rPr>
              <a:t>输出一段完美解释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069079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270247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8A817C"/>
                </a:solidFill>
                <a:latin typeface="微软雅黑"/>
                <a:ea typeface="微软雅黑"/>
              </a:rPr>
              <a:t>学生被动接收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937759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138927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8A817C"/>
                </a:solidFill>
                <a:latin typeface="微软雅黑"/>
                <a:ea typeface="微软雅黑"/>
              </a:rPr>
              <a:t>看不出哪里没懂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69164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8A5B"/>
                </a:solidFill>
                <a:latin typeface="微软雅黑"/>
                <a:ea typeface="微软雅黑"/>
              </a:rPr>
              <a:t>小问号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331720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8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53288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2E2A27"/>
                </a:solidFill>
                <a:latin typeface="微软雅黑"/>
                <a:ea typeface="微软雅黑"/>
              </a:rPr>
              <a:t>学生答 → AI 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200400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8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4015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2E2A27"/>
                </a:solidFill>
                <a:latin typeface="微软雅黑"/>
                <a:ea typeface="微软雅黑"/>
              </a:rPr>
              <a:t>一次只问一个问题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4069079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8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270247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2E2A27"/>
                </a:solidFill>
                <a:latin typeface="微软雅黑"/>
                <a:ea typeface="微软雅黑"/>
              </a:rPr>
              <a:t>学生主动建构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937759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8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5138927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2E2A27"/>
                </a:solidFill>
                <a:latin typeface="微软雅黑"/>
                <a:ea typeface="微软雅黑"/>
              </a:rPr>
              <a:t>每一次"说不清"都被记下来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52160"/>
            <a:ext cx="10698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8A5B"/>
                </a:solidFill>
                <a:latin typeface="微软雅黑"/>
                <a:ea typeface="微软雅黑"/>
              </a:rPr>
              <a:t>学生读完点头，觉得自己懂了 —— 换一道题还是不会。这叫「假性掌握」。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E2A27"/>
                </a:solidFill>
                <a:latin typeface="微软雅黑"/>
                <a:ea typeface="微软雅黑"/>
              </a:rPr>
              <a:t>二、G-Loop 引导闭环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45720"/>
          </a:xfrm>
          <a:prstGeom prst="rect">
            <a:avLst/>
          </a:prstGeom>
          <a:solidFill>
            <a:srgbClr val="E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8A817C"/>
                </a:solidFill>
                <a:latin typeface="微软雅黑"/>
                <a:ea typeface="微软雅黑"/>
              </a:rPr>
              <a:t>它不管理「对话」，而是管理「缺口」—— 每一轮的目标不是把话接下去，而是把下一个缺口逼出来。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651760"/>
            <a:ext cx="2743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8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798064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8A5B"/>
                </a:solidFill>
                <a:latin typeface="微软雅黑"/>
                <a:ea typeface="微软雅黑"/>
              </a:rPr>
              <a:t>① 苏格拉底追问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3218688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按 6 层阶梯，一次一问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2651760"/>
            <a:ext cx="2743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4EA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07407" y="2798064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4EA8DE"/>
                </a:solidFill>
                <a:latin typeface="微软雅黑"/>
                <a:ea typeface="微软雅黑"/>
              </a:rPr>
              <a:t>② 学生回答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7" y="3218688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说出他的理解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2651760"/>
            <a:ext cx="2743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9B7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99248" y="2798064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9B72CF"/>
                </a:solidFill>
                <a:latin typeface="微软雅黑"/>
                <a:ea typeface="微软雅黑"/>
              </a:rPr>
              <a:t>③ 诊断缺口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3218688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归入 7 类 + 引用原话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4114800"/>
            <a:ext cx="2743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57C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7" y="4261104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57CC99"/>
                </a:solidFill>
                <a:latin typeface="微软雅黑"/>
                <a:ea typeface="微软雅黑"/>
              </a:rPr>
              <a:t>④ 更新图谱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7" y="4681728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闭合 / 新增，实时可视化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0" y="3063240"/>
            <a:ext cx="548640" cy="73152"/>
          </a:xfrm>
          <a:prstGeom prst="rect">
            <a:avLst/>
          </a:prstGeom>
          <a:solidFill>
            <a:srgbClr val="E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0" y="3063240"/>
            <a:ext cx="548640" cy="73152"/>
          </a:xfrm>
          <a:prstGeom prst="rect">
            <a:avLst/>
          </a:prstGeom>
          <a:solidFill>
            <a:srgbClr val="E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53212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E2A27"/>
                </a:solidFill>
                <a:latin typeface="微软雅黑"/>
                <a:ea typeface="微软雅黑"/>
              </a:rPr>
              <a:t>讲不清 → 回到追问 ｜ 疑似懂了 → 进入费曼环节（学生讲给 AI 听）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E2A27"/>
                </a:solidFill>
                <a:latin typeface="微软雅黑"/>
                <a:ea typeface="微软雅黑"/>
              </a:rPr>
              <a:t>三、苏格拉底六层追问阶梯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45720"/>
          </a:xfrm>
          <a:prstGeom prst="rect">
            <a:avLst/>
          </a:prstGeom>
          <a:solidFill>
            <a:srgbClr val="E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33832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685800" cy="1463040"/>
          </a:xfrm>
          <a:prstGeom prst="rect">
            <a:avLst/>
          </a:prstGeom>
          <a:solidFill>
            <a:srgbClr val="F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194560"/>
            <a:ext cx="6583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L1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993391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A27"/>
                </a:solidFill>
                <a:latin typeface="微软雅黑"/>
                <a:ea typeface="微软雅黑"/>
              </a:rPr>
              <a:t>唤起经验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487168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「你平时……的时候，会怎么样？」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737360"/>
            <a:ext cx="33832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737360"/>
            <a:ext cx="685800" cy="1463040"/>
          </a:xfrm>
          <a:prstGeom prst="rect">
            <a:avLst/>
          </a:prstGeom>
          <a:solidFill>
            <a:srgbClr val="F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194560"/>
            <a:ext cx="6583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L2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993391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A27"/>
                </a:solidFill>
                <a:latin typeface="微软雅黑"/>
                <a:ea typeface="微软雅黑"/>
              </a:rPr>
              <a:t>概念澄清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487168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「你说的 XX，具体是指什么？」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0" y="1737360"/>
            <a:ext cx="33832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55280" y="1737360"/>
            <a:ext cx="685800" cy="1463040"/>
          </a:xfrm>
          <a:prstGeom prst="rect">
            <a:avLst/>
          </a:prstGeom>
          <a:solidFill>
            <a:srgbClr val="F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73568" y="2194560"/>
            <a:ext cx="6583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L3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993391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A27"/>
                </a:solidFill>
                <a:latin typeface="微软雅黑"/>
                <a:ea typeface="微软雅黑"/>
              </a:rPr>
              <a:t>举例反例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2487168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「有没有一个时候，它就不灵了？」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474720"/>
            <a:ext cx="33832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474720"/>
            <a:ext cx="685800" cy="1463040"/>
          </a:xfrm>
          <a:prstGeom prst="rect">
            <a:avLst/>
          </a:prstGeom>
          <a:solidFill>
            <a:srgbClr val="F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931920"/>
            <a:ext cx="6583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L4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7307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A27"/>
                </a:solidFill>
                <a:latin typeface="微软雅黑"/>
                <a:ea typeface="微软雅黑"/>
              </a:rPr>
              <a:t>类比迁移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224528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「它像你生活里的什么东西？」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3474720"/>
            <a:ext cx="33832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43400" y="3474720"/>
            <a:ext cx="685800" cy="1463040"/>
          </a:xfrm>
          <a:prstGeom prst="rect">
            <a:avLst/>
          </a:prstGeom>
          <a:solidFill>
            <a:srgbClr val="F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61688" y="3931920"/>
            <a:ext cx="6583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L5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37307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A27"/>
                </a:solidFill>
                <a:latin typeface="微软雅黑"/>
                <a:ea typeface="微软雅黑"/>
              </a:rPr>
              <a:t>追问原因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4224528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「你为什么会这么想？」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474720"/>
            <a:ext cx="33832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474720"/>
            <a:ext cx="685800" cy="1463040"/>
          </a:xfrm>
          <a:prstGeom prst="rect">
            <a:avLst/>
          </a:prstGeom>
          <a:solidFill>
            <a:srgbClr val="F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73568" y="3931920"/>
            <a:ext cx="6583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L6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3960" y="37307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A27"/>
                </a:solidFill>
                <a:latin typeface="微软雅黑"/>
                <a:ea typeface="微软雅黑"/>
              </a:rPr>
              <a:t>归纳表达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4224528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「用一句话说说，它到底是什么？」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394960"/>
            <a:ext cx="10698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2A27"/>
                </a:solidFill>
                <a:latin typeface="微软雅黑"/>
                <a:ea typeface="微软雅黑"/>
              </a:rPr>
              <a:t>不跳级：学生在哪一层卡住，就在那一层反复，通了才往上登。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8A817C"/>
                </a:solidFill>
                <a:latin typeface="微软雅黑"/>
                <a:ea typeface="微软雅黑"/>
              </a:rPr>
              <a:t>学生说「不知道」→ 降一层，换更好懂的说法重问同一件事（换说法，不换目标）。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E2A27"/>
                </a:solidFill>
                <a:latin typeface="微软雅黑"/>
                <a:ea typeface="微软雅黑"/>
              </a:rPr>
              <a:t>四、认知缺口图谱：把「没懂」结构化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698480" cy="45720"/>
          </a:xfrm>
          <a:prstGeom prst="rect">
            <a:avLst/>
          </a:prstGeom>
          <a:solidFill>
            <a:srgbClr val="E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2194560" cy="566928"/>
          </a:xfrm>
          <a:prstGeom prst="rect">
            <a:avLst/>
          </a:prstGeom>
          <a:solidFill>
            <a:srgbClr val="F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27631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定义缺失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1627631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E2A27"/>
                </a:solidFill>
                <a:latin typeface="微软雅黑"/>
                <a:ea typeface="微软雅黑"/>
              </a:rPr>
              <a:t>说不出"是什么"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627631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「就是……电脑里面放东西的地方吧」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67128"/>
            <a:ext cx="2194560" cy="566928"/>
          </a:xfrm>
          <a:prstGeom prst="rect">
            <a:avLst/>
          </a:prstGeom>
          <a:solidFill>
            <a:srgbClr val="4EA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机制不清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2860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E2A27"/>
                </a:solidFill>
                <a:latin typeface="微软雅黑"/>
                <a:ea typeface="微软雅黑"/>
              </a:rPr>
              <a:t>说不出"怎么工作"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2860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「因为……加了就更难猜？」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825496"/>
            <a:ext cx="2194560" cy="566928"/>
          </a:xfrm>
          <a:prstGeom prst="rect">
            <a:avLst/>
          </a:prstGeom>
          <a:solidFill>
            <a:srgbClr val="9B7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94436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类比失效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94436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E2A27"/>
                </a:solidFill>
                <a:latin typeface="微软雅黑"/>
                <a:ea typeface="微软雅黑"/>
              </a:rPr>
              <a:t>打比方打错地方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2944368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把"放进去"当成"加上去"，算出 5+3=8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483864"/>
            <a:ext cx="2194560" cy="566928"/>
          </a:xfrm>
          <a:prstGeom prst="rect">
            <a:avLst/>
          </a:prstGeom>
          <a:solidFill>
            <a:srgbClr val="FFC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0273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术语依赖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360273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E2A27"/>
                </a:solidFill>
                <a:latin typeface="微软雅黑"/>
                <a:ea typeface="微软雅黑"/>
              </a:rPr>
              <a:t>用没懂的词解释词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602736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「电脑有内存，就记住了」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142231"/>
            <a:ext cx="2194560" cy="566928"/>
          </a:xfrm>
          <a:prstGeom prst="rect">
            <a:avLst/>
          </a:prstGeom>
          <a:solidFill>
            <a:srgbClr val="F7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26110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因果想当然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4261103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E2A27"/>
                </a:solidFill>
                <a:latin typeface="微软雅黑"/>
                <a:ea typeface="微软雅黑"/>
              </a:rPr>
              <a:t>把先后当因果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261103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「因为电脑是先发明 0 和 1 的」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800600"/>
            <a:ext cx="2194560" cy="566928"/>
          </a:xfrm>
          <a:prstGeom prst="rect">
            <a:avLst/>
          </a:prstGeom>
          <a:solidFill>
            <a:srgbClr val="57C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9194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边界模糊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3240" y="4919472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E2A27"/>
                </a:solidFill>
                <a:latin typeface="微软雅黑"/>
                <a:ea typeface="微软雅黑"/>
              </a:rPr>
              <a:t>不知何时不适用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4919472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「密码加生日更安全，因为更长了」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458968"/>
            <a:ext cx="2194560" cy="566928"/>
          </a:xfrm>
          <a:prstGeom prst="rect">
            <a:avLst/>
          </a:prstGeom>
          <a:solidFill>
            <a:srgbClr val="6C8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57784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迁移失败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63240" y="557784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E2A27"/>
                </a:solidFill>
                <a:latin typeface="微软雅黑"/>
                <a:ea typeface="微软雅黑"/>
              </a:rPr>
              <a:t>换个情境就不会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557784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会做这道，换个说法就不会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A817C"/>
                </a:solidFill>
                <a:latin typeface="微软雅黑"/>
                <a:ea typeface="微软雅黑"/>
              </a:rPr>
              <a:t>每条都带学生原话引用、发现轮次、闭合轮次 —— 形成可追溯的证据链。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E2A27"/>
                </a:solidFill>
                <a:latin typeface="微软雅黑"/>
                <a:ea typeface="微软雅黑"/>
              </a:rPr>
              <a:t>五、费曼环节：让学生教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45720"/>
          </a:xfrm>
          <a:prstGeom prst="rect">
            <a:avLst/>
          </a:prstGeom>
          <a:solidFill>
            <a:srgbClr val="E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52120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8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8A5B"/>
                </a:solidFill>
                <a:latin typeface="微软雅黑"/>
                <a:ea typeface="微软雅黑"/>
              </a:rPr>
              <a:t>AI 的角色切换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514600"/>
            <a:ext cx="4754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2E2A27"/>
                </a:solidFill>
                <a:latin typeface="微软雅黑"/>
                <a:ea typeface="微软雅黑"/>
              </a:rPr>
              <a:t>从「追问的老师」变成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2E2A27"/>
                </a:solidFill>
                <a:latin typeface="微软雅黑"/>
                <a:ea typeface="微软雅黑"/>
              </a:rPr>
              <a:t>「从没学过的四年级同桌」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2E2A27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8A817C"/>
                </a:solidFill>
                <a:latin typeface="微软雅黑"/>
                <a:ea typeface="微软雅黑"/>
              </a:rPr>
              <a:t>请学生讲给它听，它只在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8A817C"/>
                </a:solidFill>
                <a:latin typeface="微软雅黑"/>
                <a:ea typeface="微软雅黑"/>
              </a:rPr>
              <a:t>含糊 / 术语 / 断链处打断。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37360"/>
            <a:ext cx="52120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7C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57CC99"/>
                </a:solidFill>
                <a:latin typeface="微软雅黑"/>
                <a:ea typeface="微软雅黑"/>
              </a:rPr>
              <a:t>三条通过标准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514600"/>
            <a:ext cx="4754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0">
                <a:solidFill>
                  <a:srgbClr val="2E2A27"/>
                </a:solidFill>
                <a:latin typeface="微软雅黑"/>
                <a:ea typeface="微软雅黑"/>
              </a:rPr>
              <a:t>① 没用同桌听不懂的词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2E2A27"/>
                </a:solidFill>
                <a:latin typeface="微软雅黑"/>
                <a:ea typeface="微软雅黑"/>
              </a:rPr>
              <a:t>② 打了一个生活里的比方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2E2A27"/>
                </a:solidFill>
                <a:latin typeface="微软雅黑"/>
                <a:ea typeface="微软雅黑"/>
              </a:rPr>
              <a:t>③ 能回答同桌的一个追问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3484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E2A27"/>
                </a:solidFill>
                <a:latin typeface="微软雅黑"/>
                <a:ea typeface="微软雅黑"/>
              </a:rPr>
              <a:t>绝对禁止（这是最容易犯的错）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5148072"/>
            <a:ext cx="146304" cy="146304"/>
          </a:xfrm>
          <a:prstGeom prst="ellipse">
            <a:avLst/>
          </a:prstGeom>
          <a:solidFill>
            <a:srgbClr val="F7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02920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E2A27"/>
                </a:solidFill>
                <a:latin typeface="微软雅黑"/>
                <a:ea typeface="微软雅黑"/>
              </a:rPr>
              <a:t>不许替学生把话补完 —— 一旦补完，费曼闭环就失效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5632704"/>
            <a:ext cx="146304" cy="146304"/>
          </a:xfrm>
          <a:prstGeom prst="ellipse">
            <a:avLst/>
          </a:prstGeom>
          <a:solidFill>
            <a:srgbClr val="F7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513832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E2A27"/>
                </a:solidFill>
                <a:latin typeface="微软雅黑"/>
                <a:ea typeface="微软雅黑"/>
              </a:rPr>
              <a:t>不许使用学生没用过的术语（同桌根本不知道这些词）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6117336"/>
            <a:ext cx="146304" cy="146304"/>
          </a:xfrm>
          <a:prstGeom prst="ellipse">
            <a:avLst/>
          </a:prstGeom>
          <a:solidFill>
            <a:srgbClr val="F7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998464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E2A27"/>
                </a:solidFill>
                <a:latin typeface="微软雅黑"/>
                <a:ea typeface="微软雅黑"/>
              </a:rPr>
              <a:t>不许夸「你说得很好」，要夸就夸具体的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E2A27"/>
                </a:solidFill>
                <a:latin typeface="微软雅黑"/>
                <a:ea typeface="微软雅黑"/>
              </a:rPr>
              <a:t>六、拒答护栏：「不给答案」是可以测量的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45720"/>
          </a:xfrm>
          <a:prstGeom prst="rect">
            <a:avLst/>
          </a:prstGeom>
          <a:solidFill>
            <a:srgbClr val="E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8A817C"/>
                </a:solidFill>
                <a:latin typeface="微软雅黑"/>
                <a:ea typeface="微软雅黑"/>
              </a:rPr>
              <a:t>"AI 不给答案"很容易承诺，很难证明。小问号把它变成三个可当场验证的数字。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33832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4EA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8716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4EA8DE"/>
                </a:solidFill>
                <a:latin typeface="微软雅黑"/>
                <a:ea typeface="微软雅黑"/>
              </a:rPr>
              <a:t>答问比 Q/A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9923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疑问句 ÷ 结论句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401568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实测</a:t>
            </a:r>
          </a:p>
          <a:p>
            <a:pPr algn="l">
              <a:spcAft>
                <a:spcPts val="200"/>
              </a:spcAft>
            </a:pPr>
            <a:r>
              <a:rPr sz="3000" b="1">
                <a:solidFill>
                  <a:srgbClr val="4EA8DE"/>
                </a:solidFill>
                <a:latin typeface="微软雅黑"/>
                <a:ea typeface="微软雅黑"/>
              </a:rPr>
              <a:t>60 – 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862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目标 ≥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286000"/>
            <a:ext cx="33832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57C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48716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57CC99"/>
                </a:solidFill>
                <a:latin typeface="微软雅黑"/>
                <a:ea typeface="微软雅黑"/>
              </a:rPr>
              <a:t>泄露率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99923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给答案的轮次占比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401568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实测</a:t>
            </a:r>
          </a:p>
          <a:p>
            <a:pPr algn="l">
              <a:spcAft>
                <a:spcPts val="200"/>
              </a:spcAft>
            </a:pPr>
            <a:r>
              <a:rPr sz="3000" b="1">
                <a:solidFill>
                  <a:srgbClr val="57CC99"/>
                </a:solidFill>
                <a:latin typeface="微软雅黑"/>
                <a:ea typeface="微软雅黑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8862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目标 ≤ 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55280" y="2286000"/>
            <a:ext cx="33832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8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248716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8A5B"/>
                </a:solidFill>
                <a:latin typeface="微软雅黑"/>
                <a:ea typeface="微软雅黑"/>
              </a:rPr>
              <a:t>缺口闭合率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299923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已闭合 ÷ 诊断出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3401568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实测</a:t>
            </a:r>
          </a:p>
          <a:p>
            <a:pPr algn="l">
              <a:spcAft>
                <a:spcPts val="200"/>
              </a:spcAft>
            </a:pPr>
            <a:r>
              <a:rPr sz="3000" b="1">
                <a:solidFill>
                  <a:srgbClr val="FF8A5B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80" y="38862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目标 ≥ 60%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709160"/>
            <a:ext cx="10698480" cy="914400"/>
          </a:xfrm>
          <a:prstGeom prst="rect">
            <a:avLst/>
          </a:prstGeom>
          <a:solidFill>
            <a:srgbClr val="DEF7EC"/>
          </a:solidFill>
          <a:ln w="12700">
            <a:solidFill>
              <a:srgbClr val="57C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892040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F9E75"/>
                </a:solidFill>
                <a:latin typeface="微软雅黑"/>
                <a:ea typeface="微软雅黑"/>
              </a:rPr>
              <a:t>护栏通过率 24 / 24 = 100%（3 段回放脚本 · 共 24 轮）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285232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817C"/>
                </a:solidFill>
                <a:latin typeface="微软雅黑"/>
                <a:ea typeface="微软雅黑"/>
              </a:rPr>
              <a:t>数据来源：pnpm selfcheck，结果可复现；评委可在使用时随时查看，无需信任开发者自述。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8978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17C"/>
                </a:solidFill>
                <a:latin typeface="微软雅黑"/>
                <a:ea typeface="微软雅黑"/>
              </a:rPr>
              <a:t>前端交互经 puppeteer 冒烟测试：13 项全通过，零控制台错误。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E2A27"/>
                </a:solidFill>
                <a:latin typeface="微软雅黑"/>
                <a:ea typeface="微软雅黑"/>
              </a:rPr>
              <a:t>七、面向小学的儿童认知适配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45720"/>
          </a:xfrm>
          <a:prstGeom prst="rect">
            <a:avLst/>
          </a:prstGeom>
          <a:solidFill>
            <a:srgbClr val="E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9728" cy="777240"/>
          </a:xfrm>
          <a:prstGeom prst="rect">
            <a:avLst/>
          </a:prstGeom>
          <a:solidFill>
            <a:srgbClr val="F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3736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A27"/>
                </a:solidFill>
                <a:latin typeface="微软雅黑"/>
                <a:ea typeface="微软雅黑"/>
              </a:rPr>
              <a:t>儿童语言公约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4884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17C"/>
                </a:solidFill>
                <a:latin typeface="微软雅黑"/>
                <a:ea typeface="微软雅黑"/>
              </a:rPr>
              <a:t>一句话 ≤ 25 字；术语必须翻译成动作：「变量」→「贴了名字的盒子」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651760"/>
            <a:ext cx="109728" cy="777240"/>
          </a:xfrm>
          <a:prstGeom prst="rect">
            <a:avLst/>
          </a:prstGeom>
          <a:solidFill>
            <a:srgbClr val="4EA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69748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A27"/>
                </a:solidFill>
                <a:latin typeface="微软雅黑"/>
                <a:ea typeface="微软雅黑"/>
              </a:rPr>
              <a:t>三个状态按钮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10896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17C"/>
                </a:solidFill>
                <a:latin typeface="微软雅黑"/>
                <a:ea typeface="微软雅黑"/>
              </a:rPr>
              <a:t>我不知道 / 给点提示 / 我讲完了 —— 绕开小学生打字慢的门槛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611880"/>
            <a:ext cx="109728" cy="777240"/>
          </a:xfrm>
          <a:prstGeom prst="rect">
            <a:avLst/>
          </a:prstGeom>
          <a:solidFill>
            <a:srgbClr val="57C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65760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A27"/>
                </a:solidFill>
                <a:latin typeface="微软雅黑"/>
                <a:ea typeface="微软雅黑"/>
              </a:rPr>
              <a:t>挫败防护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6908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17C"/>
                </a:solidFill>
                <a:latin typeface="微软雅黑"/>
                <a:ea typeface="微软雅黑"/>
              </a:rPr>
              <a:t>连续答不上来自动降层重问；只给「最小提示」，绝不给完整答案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572000"/>
            <a:ext cx="109728" cy="777240"/>
          </a:xfrm>
          <a:prstGeom prst="rect">
            <a:avLst/>
          </a:prstGeom>
          <a:solidFill>
            <a:srgbClr val="9B7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617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A27"/>
                </a:solidFill>
                <a:latin typeface="微软雅黑"/>
                <a:ea typeface="微软雅黑"/>
              </a:rPr>
              <a:t>内容对标课标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02920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17C"/>
                </a:solidFill>
                <a:latin typeface="微软雅黑"/>
                <a:ea typeface="微软雅黑"/>
              </a:rPr>
              <a:t>《义务教育信息科技课程标准（2022年版）》四大板块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532120"/>
            <a:ext cx="109728" cy="777240"/>
          </a:xfrm>
          <a:prstGeom prst="rect">
            <a:avLst/>
          </a:prstGeom>
          <a:solidFill>
            <a:srgbClr val="8A81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57784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A27"/>
                </a:solidFill>
                <a:latin typeface="微软雅黑"/>
                <a:ea typeface="微软雅黑"/>
              </a:rPr>
              <a:t>隐私与合规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98932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17C"/>
                </a:solidFill>
                <a:latin typeface="微软雅黑"/>
                <a:ea typeface="微软雅黑"/>
              </a:rPr>
              <a:t>API Key 只存本地浏览器，对话数据不经任何中间服务器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E2A27"/>
                </a:solidFill>
                <a:latin typeface="微软雅黑"/>
                <a:ea typeface="微软雅黑"/>
              </a:rPr>
              <a:t>八、技术实现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45720"/>
          </a:xfrm>
          <a:prstGeom prst="rect">
            <a:avLst/>
          </a:prstGeom>
          <a:solidFill>
            <a:srgbClr val="E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17C"/>
                </a:solidFill>
                <a:latin typeface="微软雅黑"/>
                <a:ea typeface="微软雅黑"/>
              </a:rPr>
              <a:t>Vite + React 18 + TypeScript + Tailwind 静态前端，浏览器直连 DeepSeek API。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A27"/>
                </a:solidFill>
                <a:latin typeface="微软雅黑"/>
                <a:ea typeface="微软雅黑"/>
              </a:rPr>
              <a:t>三角色协同（同一模型，靠 Prompt 与结构化输出切换）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788920"/>
            <a:ext cx="10698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788920"/>
            <a:ext cx="91440" cy="914400"/>
          </a:xfrm>
          <a:prstGeom prst="rect">
            <a:avLst/>
          </a:prstGeom>
          <a:solidFill>
            <a:srgbClr val="F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907791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8A5B"/>
                </a:solidFill>
                <a:latin typeface="微软雅黑"/>
                <a:ea typeface="微软雅黑"/>
              </a:rPr>
              <a:t>Socratic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91839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E2A27"/>
                </a:solidFill>
                <a:latin typeface="微软雅黑"/>
                <a:ea typeface="微软雅黑"/>
              </a:rPr>
              <a:t>生成单个追问，按阶梯升降层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3081527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817C"/>
                </a:solidFill>
                <a:latin typeface="微软雅黑"/>
                <a:ea typeface="微软雅黑"/>
              </a:rPr>
              <a:t>{say, level, target_gap, give_up_hint}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840479"/>
            <a:ext cx="10698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840479"/>
            <a:ext cx="91440" cy="914400"/>
          </a:xfrm>
          <a:prstGeom prst="rect">
            <a:avLst/>
          </a:prstGeom>
          <a:solidFill>
            <a:srgbClr val="9B7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959351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B72CF"/>
                </a:solidFill>
                <a:latin typeface="微软雅黑"/>
                <a:ea typeface="微软雅黑"/>
              </a:rPr>
              <a:t>Gap Diagnoser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343399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E2A27"/>
                </a:solidFill>
                <a:latin typeface="微软雅黑"/>
                <a:ea typeface="微软雅黑"/>
              </a:rPr>
              <a:t>从学生原话识别 7 类缺口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4133087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817C"/>
                </a:solidFill>
                <a:latin typeface="微软雅黑"/>
                <a:ea typeface="微软雅黑"/>
              </a:rPr>
              <a:t>{gaps[{type,evidence}], understood_level}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892040"/>
            <a:ext cx="10698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892040"/>
            <a:ext cx="91440" cy="914400"/>
          </a:xfrm>
          <a:prstGeom prst="rect">
            <a:avLst/>
          </a:prstGeom>
          <a:solidFill>
            <a:srgbClr val="57C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010912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57CC99"/>
                </a:solidFill>
                <a:latin typeface="微软雅黑"/>
                <a:ea typeface="微软雅黑"/>
              </a:rPr>
              <a:t>Feynman Reviewer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394959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E2A27"/>
                </a:solidFill>
                <a:latin typeface="微软雅黑"/>
                <a:ea typeface="微软雅黑"/>
              </a:rPr>
              <a:t>扮演不懂的同桌，只在断链处打断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518464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817C"/>
                </a:solidFill>
                <a:latin typeface="微软雅黑"/>
                <a:ea typeface="微软雅黑"/>
              </a:rPr>
              <a:t>{say, passed, stuck_at, missing}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E2A27"/>
                </a:solidFill>
                <a:latin typeface="微软雅黑"/>
                <a:ea typeface="微软雅黑"/>
              </a:rPr>
              <a:t>九、体验模式：评委零门槛审核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45720"/>
          </a:xfrm>
          <a:prstGeom prst="rect">
            <a:avLst/>
          </a:prstGeom>
          <a:solidFill>
            <a:srgbClr val="E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8A817C"/>
                </a:solidFill>
                <a:latin typeface="微软雅黑"/>
                <a:ea typeface="微软雅黑"/>
              </a:rPr>
              <a:t>内置 3 段完整回放脚本（变量 / 密码安全 / 二进制），不需要 API Key、不依赖网络模型。</a:t>
            </a:r>
          </a:p>
        </p:txBody>
      </p:sp>
      <p:pic>
        <p:nvPicPr>
          <p:cNvPr id="6" name="Picture 5" descr="screenshot-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3499" y="2331720"/>
            <a:ext cx="5844695" cy="397763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E2A27"/>
                </a:solidFill>
                <a:latin typeface="微软雅黑"/>
                <a:ea typeface="微软雅黑"/>
              </a:rPr>
              <a:t>十、与已有开源项目的差异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45720"/>
          </a:xfrm>
          <a:prstGeom prst="rect">
            <a:avLst/>
          </a:prstGeom>
          <a:solidFill>
            <a:srgbClr val="E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17C"/>
                </a:solidFill>
                <a:latin typeface="微软雅黑"/>
                <a:ea typeface="微软雅黑"/>
              </a:rPr>
              <a:t>开源界已有苏格拉底提问与费曼技巧的「单引擎」实现，但：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377440"/>
            <a:ext cx="91440" cy="1097280"/>
          </a:xfrm>
          <a:prstGeom prst="rect">
            <a:avLst/>
          </a:prstGeom>
          <a:solidFill>
            <a:srgbClr val="F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032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FF8A5B"/>
                </a:solidFill>
                <a:latin typeface="微软雅黑"/>
                <a:ea typeface="微软雅黑"/>
              </a:rPr>
              <a:t>① 缺口结构化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670048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A27"/>
                </a:solidFill>
                <a:latin typeface="微软雅黑"/>
                <a:ea typeface="微软雅黑"/>
              </a:rPr>
              <a:t>把"没懂"落成 7 类可追踪、可量化、可闭合的缺口事件，而非一次性提示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11880"/>
            <a:ext cx="106984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611880"/>
            <a:ext cx="91440" cy="1097280"/>
          </a:xfrm>
          <a:prstGeom prst="rect">
            <a:avLst/>
          </a:prstGeom>
          <a:solidFill>
            <a:srgbClr val="57C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79476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57CC99"/>
                </a:solidFill>
                <a:latin typeface="微软雅黑"/>
                <a:ea typeface="微软雅黑"/>
              </a:rPr>
              <a:t>② 护栏可审计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904488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A27"/>
                </a:solidFill>
                <a:latin typeface="微软雅黑"/>
                <a:ea typeface="微软雅黑"/>
              </a:rPr>
              <a:t>用三项指标自证"真的不给答案"，评委可当场验证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846320"/>
            <a:ext cx="106984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846320"/>
            <a:ext cx="91440" cy="1097280"/>
          </a:xfrm>
          <a:prstGeom prst="rect">
            <a:avLst/>
          </a:prstGeom>
          <a:solidFill>
            <a:srgbClr val="4EA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02920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4EA8DE"/>
                </a:solidFill>
                <a:latin typeface="微软雅黑"/>
                <a:ea typeface="微软雅黑"/>
              </a:rPr>
              <a:t>③ 场景落地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5138928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A27"/>
                </a:solidFill>
                <a:latin typeface="微软雅黑"/>
                <a:ea typeface="微软雅黑"/>
              </a:rPr>
              <a:t>面向小学信息科技，含儿童语言公约与挫败防护，对标 2022 义教新课标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参考：socratic-workshop、m4vic/socratic、feynman-tutor、Museion 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微软雅黑"/>
                <a:ea typeface="微软雅黑"/>
              </a:rPr>
              <a:t>不给答案，只问问题。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FFE3D3"/>
                </a:solidFill>
                <a:latin typeface="微软雅黑"/>
                <a:ea typeface="微软雅黑"/>
              </a:rPr>
              <a:t>让学生自己想明白的那一步，才是真正的学会。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114800"/>
            <a:ext cx="329184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小问号 · 苏格拉底 × 费曼 主动学习智能体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FE3D3"/>
                </a:solidFill>
                <a:latin typeface="微软雅黑"/>
                <a:ea typeface="微软雅黑"/>
              </a:rPr>
              <a:t>小学 3-6 年级 信息科技 ｜ DeepSeek ｜ MIT License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