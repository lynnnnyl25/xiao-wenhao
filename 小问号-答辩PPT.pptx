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微软雅黑"/>
                <a:ea typeface="微软雅黑"/>
              </a:rPr>
              <a:t>❓  小问号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苏格拉底 × 费曼 主动学习智能体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E3D3"/>
                </a:solidFill>
                <a:latin typeface="微软雅黑"/>
                <a:ea typeface="微软雅黑"/>
              </a:rPr>
              <a:t>让 AI 从「替学生回答」转向「引导学生学会思考」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329184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FE3D3"/>
                </a:solidFill>
                <a:latin typeface="微软雅黑"/>
                <a:ea typeface="微软雅黑"/>
              </a:rPr>
              <a:t>小学 3-6 年级 · 信息科技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E3D3"/>
                </a:solidFill>
                <a:latin typeface="微软雅黑"/>
                <a:ea typeface="微软雅黑"/>
              </a:rPr>
              <a:t>技术底座：DeepSeek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在线体验：lynnnnyl25.github.io/xiao-wenhao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一、AI 越会答，学生越学不到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A817C"/>
                </a:solidFill>
                <a:latin typeface="微软雅黑"/>
                <a:ea typeface="微软雅黑"/>
              </a:rPr>
              <a:t>传统 AI 助教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3172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3288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8A817C"/>
                </a:solidFill>
                <a:latin typeface="微软雅黑"/>
                <a:ea typeface="微软雅黑"/>
              </a:rPr>
              <a:t>学生问 → AI 答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0040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015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8A817C"/>
                </a:solidFill>
                <a:latin typeface="微软雅黑"/>
                <a:ea typeface="微软雅黑"/>
              </a:rPr>
              <a:t>输出一段完美解释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69079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70247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8A817C"/>
                </a:solidFill>
                <a:latin typeface="微软雅黑"/>
                <a:ea typeface="微软雅黑"/>
              </a:rPr>
              <a:t>学生被动接收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937759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138927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8A817C"/>
                </a:solidFill>
                <a:latin typeface="微软雅黑"/>
                <a:ea typeface="微软雅黑"/>
              </a:rPr>
              <a:t>看不出哪里没懂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8A5B"/>
                </a:solidFill>
                <a:latin typeface="微软雅黑"/>
                <a:ea typeface="微软雅黑"/>
              </a:rPr>
              <a:t>小问号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33172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3288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E2A27"/>
                </a:solidFill>
                <a:latin typeface="微软雅黑"/>
                <a:ea typeface="微软雅黑"/>
              </a:rPr>
              <a:t>学生答 → AI 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20040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4015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E2A27"/>
                </a:solidFill>
                <a:latin typeface="微软雅黑"/>
                <a:ea typeface="微软雅黑"/>
              </a:rPr>
              <a:t>一次只问一个问题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069079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70247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E2A27"/>
                </a:solidFill>
                <a:latin typeface="微软雅黑"/>
                <a:ea typeface="微软雅黑"/>
              </a:rPr>
              <a:t>学生主动建构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937759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5138927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2E2A27"/>
                </a:solidFill>
                <a:latin typeface="微软雅黑"/>
                <a:ea typeface="微软雅黑"/>
              </a:rPr>
              <a:t>每一次"说不清"都被记下来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8A5B"/>
                </a:solidFill>
                <a:latin typeface="微软雅黑"/>
                <a:ea typeface="微软雅黑"/>
              </a:rPr>
              <a:t>学生读完点头，觉得自己懂了 —— 换一道题还是不会。这叫「假性掌握」。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二、G-Loop 引导闭环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17C"/>
                </a:solidFill>
                <a:latin typeface="微软雅黑"/>
                <a:ea typeface="微软雅黑"/>
              </a:rPr>
              <a:t>它不管理「对话」，而是管理「缺口」—— 每一轮的目标不是把话接下去，而是把下一个缺口逼出来。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798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8A5B"/>
                </a:solidFill>
                <a:latin typeface="微软雅黑"/>
                <a:ea typeface="微软雅黑"/>
              </a:rPr>
              <a:t>① 苏格拉底追问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21868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按 6 层阶梯，一次一问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651760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A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07407" y="2798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4EA8DE"/>
                </a:solidFill>
                <a:latin typeface="微软雅黑"/>
                <a:ea typeface="微软雅黑"/>
              </a:rPr>
              <a:t>② 学生回答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7" y="321868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说出他的理解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651760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9248" y="279806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9B72CF"/>
                </a:solidFill>
                <a:latin typeface="微软雅黑"/>
                <a:ea typeface="微软雅黑"/>
              </a:rPr>
              <a:t>③ 诊断缺口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9248" y="321868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归入 7 类 + 引用原话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4114800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57C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7" y="4261104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57CC99"/>
                </a:solidFill>
                <a:latin typeface="微软雅黑"/>
                <a:ea typeface="微软雅黑"/>
              </a:rPr>
              <a:t>④ 更新图谱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4681728"/>
            <a:ext cx="2377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闭合 / 新增，实时可视化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3063240"/>
            <a:ext cx="548640" cy="73152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0" y="3063240"/>
            <a:ext cx="548640" cy="73152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532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E2A27"/>
                </a:solidFill>
                <a:latin typeface="微软雅黑"/>
                <a:ea typeface="微软雅黑"/>
              </a:rPr>
              <a:t>讲不清 → 回到追问 ｜ 疑似懂了 → 进入费曼环节（学生讲给 AI 听）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三、苏格拉底六层追问阶梯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19456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99339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唤起经验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871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「你平时……的时候，会怎么样？」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3736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19456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9339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概念澄清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4871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「你说的 XX，具体是指什么？」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173736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80" y="173736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219456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993391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举例反例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48716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「有没有一个时候，它就不灵了？」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47472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47472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3192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7307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类比迁移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22452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「它像你生活里的什么东西？」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47472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347472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1688" y="393192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7307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追问原因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22452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「你为什么会这么想？」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474720"/>
            <a:ext cx="33832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474720"/>
            <a:ext cx="685800" cy="14630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73568" y="3931920"/>
            <a:ext cx="6583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L6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37307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归纳表达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4224528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「用一句话说说，它到底是什么？」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39496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不跳级：学生在哪一层卡住，就在那一层反复，通了才往上登。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8A817C"/>
                </a:solidFill>
                <a:latin typeface="微软雅黑"/>
                <a:ea typeface="微软雅黑"/>
              </a:rPr>
              <a:t>学生说「不知道」→ 降一层，换更好懂的说法重问同一件事（换说法，不换目标）。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四、认知缺口图谱：把「没懂」结构化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2194560" cy="566928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1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定义缺失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62763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说不出"是什么"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627631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「就是……电脑里面放东西的地方吧」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67128"/>
            <a:ext cx="2194560" cy="566928"/>
          </a:xfrm>
          <a:prstGeom prst="rect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机制不清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2860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说不出"怎么工作"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2860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「因为……加了就更难猜？」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25496"/>
            <a:ext cx="2194560" cy="566928"/>
          </a:xfrm>
          <a:prstGeom prst="rect">
            <a:avLst/>
          </a:prstGeom>
          <a:solidFill>
            <a:srgbClr val="9B7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4436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类比失效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94436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打比方打错地方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94436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把"放进去"当成"加上去"，算出 5+3=8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483864"/>
            <a:ext cx="2194560" cy="566928"/>
          </a:xfrm>
          <a:prstGeom prst="rect">
            <a:avLst/>
          </a:prstGeom>
          <a:solidFill>
            <a:srgbClr val="FFC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0273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术语依赖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6027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用没懂的词解释词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602736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「电脑有内存，就记住了」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142231"/>
            <a:ext cx="2194560" cy="566928"/>
          </a:xfrm>
          <a:prstGeom prst="rect">
            <a:avLst/>
          </a:prstGeom>
          <a:solidFill>
            <a:srgbClr val="F7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26110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因果想当然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4261103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把先后当因果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261103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「因为电脑是先发明 0 和 1 的」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800600"/>
            <a:ext cx="2194560" cy="566928"/>
          </a:xfrm>
          <a:prstGeom prst="rect">
            <a:avLst/>
          </a:prstGeom>
          <a:solidFill>
            <a:srgbClr val="57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9194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边界模糊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3240" y="491947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不知何时不适用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1947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「密码加生日更安全，因为更长了」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458968"/>
            <a:ext cx="2194560" cy="566928"/>
          </a:xfrm>
          <a:prstGeom prst="rect">
            <a:avLst/>
          </a:prstGeom>
          <a:solidFill>
            <a:srgbClr val="6C8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57784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迁移失败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55778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换个情境就不会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57784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会做这道，换个说法就不会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A817C"/>
                </a:solidFill>
                <a:latin typeface="微软雅黑"/>
                <a:ea typeface="微软雅黑"/>
              </a:rPr>
              <a:t>每条都带学生原话引用、发现轮次、闭合轮次 —— 形成可追溯的证据链。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五、费曼环节：让学生教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52120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8A5B"/>
                </a:solidFill>
                <a:latin typeface="微软雅黑"/>
                <a:ea typeface="微软雅黑"/>
              </a:rPr>
              <a:t>AI 的角色切换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从「追问的老师」变成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2E2A27"/>
                </a:solidFill>
                <a:latin typeface="微软雅黑"/>
                <a:ea typeface="微软雅黑"/>
              </a:rPr>
              <a:t>「从没学过的四年级同桌」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2E2A27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请学生讲给它听，它只在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含糊 / 术语 / 断链处打断。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2120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57C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7CC99"/>
                </a:solidFill>
                <a:latin typeface="微软雅黑"/>
                <a:ea typeface="微软雅黑"/>
              </a:rPr>
              <a:t>三条通过标准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1460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① 没用同桌听不懂的词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② 打了一个生活里的比方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③ 能回答同桌的一个追问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2A27"/>
                </a:solidFill>
                <a:latin typeface="微软雅黑"/>
                <a:ea typeface="微软雅黑"/>
              </a:rPr>
              <a:t>绝对禁止（这是最容易犯的错）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5148072"/>
            <a:ext cx="146304" cy="146304"/>
          </a:xfrm>
          <a:prstGeom prst="ellipse">
            <a:avLst/>
          </a:prstGeom>
          <a:solidFill>
            <a:srgbClr val="F7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不许替学生把话补完 —— 一旦补完，费曼闭环就失效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5632704"/>
            <a:ext cx="146304" cy="146304"/>
          </a:xfrm>
          <a:prstGeom prst="ellipse">
            <a:avLst/>
          </a:prstGeom>
          <a:solidFill>
            <a:srgbClr val="F7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13832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不许使用学生没用过的术语（同桌根本不知道这些词）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6117336"/>
            <a:ext cx="146304" cy="146304"/>
          </a:xfrm>
          <a:prstGeom prst="ellipse">
            <a:avLst/>
          </a:prstGeom>
          <a:solidFill>
            <a:srgbClr val="F76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998464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E2A27"/>
                </a:solidFill>
                <a:latin typeface="微软雅黑"/>
                <a:ea typeface="微软雅黑"/>
              </a:rPr>
              <a:t>不许夸「你说得很好」，要夸就夸具体的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六、拒答护栏：「不给答案」是可以测量的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9344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17C"/>
                </a:solidFill>
                <a:latin typeface="微软雅黑"/>
                <a:ea typeface="微软雅黑"/>
              </a:rPr>
              <a:t>"不给答案"很容易承诺，很难证明。小问号把它变成五个可当场验证的数字。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56816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76E8E"/>
                </a:solidFill>
                <a:latin typeface="微软雅黑"/>
                <a:ea typeface="微软雅黑"/>
              </a:rPr>
              <a:t>诱导率隐蔽性最高：答案藏进问句，字面合法，学生却只在点头。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31720"/>
            <a:ext cx="33832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A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459736"/>
            <a:ext cx="2926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微软雅黑"/>
                <a:ea typeface="微软雅黑"/>
              </a:rPr>
              <a:t>答问比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8437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疑问句 ÷ 结论句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136391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4EA8DE"/>
                </a:solidFill>
                <a:latin typeface="微软雅黑"/>
                <a:ea typeface="微软雅黑"/>
              </a:rPr>
              <a:t>60-90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3264408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A817C"/>
                </a:solidFill>
                <a:latin typeface="微软雅黑"/>
                <a:ea typeface="微软雅黑"/>
              </a:rPr>
              <a:t>目标 ≥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31720"/>
            <a:ext cx="33832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7C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459736"/>
            <a:ext cx="2926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57CC99"/>
                </a:solidFill>
                <a:latin typeface="微软雅黑"/>
                <a:ea typeface="微软雅黑"/>
              </a:rPr>
              <a:t>泄露率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8437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给答案的轮次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136391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57CC9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264408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A817C"/>
                </a:solidFill>
                <a:latin typeface="微软雅黑"/>
                <a:ea typeface="微软雅黑"/>
              </a:rPr>
              <a:t>目标 ≤ 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80" y="2331720"/>
            <a:ext cx="33832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76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2459736"/>
            <a:ext cx="2926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76E8E"/>
                </a:solidFill>
                <a:latin typeface="微软雅黑"/>
                <a:ea typeface="微软雅黑"/>
              </a:rPr>
              <a:t>诱导率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28437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答案藏进问句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136391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F76E8E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3264408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A817C"/>
                </a:solidFill>
                <a:latin typeface="微软雅黑"/>
                <a:ea typeface="微软雅黑"/>
              </a:rPr>
              <a:t>目标 ≤ 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23360"/>
            <a:ext cx="33832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51376"/>
            <a:ext cx="2926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8A5B"/>
                </a:solidFill>
                <a:latin typeface="微软雅黑"/>
                <a:ea typeface="微软雅黑"/>
              </a:rPr>
              <a:t>一问一题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53542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只含一个问号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280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FF8A5B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4956048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A817C"/>
                </a:solidFill>
                <a:latin typeface="微软雅黑"/>
                <a:ea typeface="微软雅黑"/>
              </a:rPr>
              <a:t>目标 ≥ 95%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4023360"/>
            <a:ext cx="33832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B72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4568" y="4151376"/>
            <a:ext cx="2926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9B72CF"/>
                </a:solidFill>
                <a:latin typeface="微软雅黑"/>
                <a:ea typeface="微软雅黑"/>
              </a:rPr>
              <a:t>闭合率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4568" y="453542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已闭合 ÷ 诊断出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8280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9B72C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956048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8A817C"/>
                </a:solidFill>
                <a:latin typeface="微软雅黑"/>
                <a:ea typeface="微软雅黑"/>
              </a:rPr>
              <a:t>目标 ≥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806440"/>
            <a:ext cx="10698480" cy="658368"/>
          </a:xfrm>
          <a:prstGeom prst="rect">
            <a:avLst/>
          </a:prstGeom>
          <a:solidFill>
            <a:srgbClr val="DEF7EC"/>
          </a:solidFill>
          <a:ln w="12700">
            <a:solidFill>
              <a:srgbClr val="57C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943600"/>
            <a:ext cx="102412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F9E75"/>
                </a:solidFill>
                <a:latin typeface="微软雅黑"/>
                <a:ea typeface="微软雅黑"/>
              </a:rPr>
              <a:t>护栏通过率 39 / 39 = 100%（5 段脚本 · 共 39 轮）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A817C"/>
                </a:solidFill>
                <a:latin typeface="微软雅黑"/>
                <a:ea typeface="微软雅黑"/>
              </a:rPr>
              <a:t>数据来源 pnpm selfcheck，结果可复现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七、面向小学的儿童认知适配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9728" cy="77724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3736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儿童语言公约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一句话 ≤ 25 字；术语必须翻译成动作：「变量」→「贴了名字的盒子」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109728" cy="777240"/>
          </a:xfrm>
          <a:prstGeom prst="rect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三个状态按钮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089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我不知道 / 给点提示 / 我讲完了 —— 绕开小学生打字慢的门槛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611880"/>
            <a:ext cx="109728" cy="777240"/>
          </a:xfrm>
          <a:prstGeom prst="rect">
            <a:avLst/>
          </a:prstGeom>
          <a:solidFill>
            <a:srgbClr val="57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576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挫败防护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6908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连续答不上来自动降层重问；只给「最小提示」，绝不给完整答案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72000"/>
            <a:ext cx="109728" cy="777240"/>
          </a:xfrm>
          <a:prstGeom prst="rect">
            <a:avLst/>
          </a:prstGeom>
          <a:solidFill>
            <a:srgbClr val="9B7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内容对标课标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292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《义务教育信息科技课程标准（2022年版）》四大板块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532120"/>
            <a:ext cx="109728" cy="777240"/>
          </a:xfrm>
          <a:prstGeom prst="rect">
            <a:avLst/>
          </a:prstGeom>
          <a:solidFill>
            <a:srgbClr val="8A8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778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隐私与合规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9893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17C"/>
                </a:solidFill>
                <a:latin typeface="微软雅黑"/>
                <a:ea typeface="微软雅黑"/>
              </a:rPr>
              <a:t>API Key 只存本地浏览器，对话数据不经任何中间服务器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八、技术实现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17C"/>
                </a:solidFill>
                <a:latin typeface="微软雅黑"/>
                <a:ea typeface="微软雅黑"/>
              </a:rPr>
              <a:t>Vite + React 18 + TypeScript + Tailwind 静态前端，浏览器直连 DeepSeek API。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2A27"/>
                </a:solidFill>
                <a:latin typeface="微软雅黑"/>
                <a:ea typeface="微软雅黑"/>
              </a:rPr>
              <a:t>三角色协同（同一模型，靠 Prompt 与结构化输出切换）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788920"/>
            <a:ext cx="10698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788920"/>
            <a:ext cx="91440" cy="91440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0779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8A5B"/>
                </a:solidFill>
                <a:latin typeface="微软雅黑"/>
                <a:ea typeface="微软雅黑"/>
              </a:rPr>
              <a:t>Socratic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E2A27"/>
                </a:solidFill>
                <a:latin typeface="微软雅黑"/>
                <a:ea typeface="微软雅黑"/>
              </a:rPr>
              <a:t>生成单个追问，按阶梯升降层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308152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{say, level, target_gap, give_up_hint}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840479"/>
            <a:ext cx="10698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40479"/>
            <a:ext cx="91440" cy="914400"/>
          </a:xfrm>
          <a:prstGeom prst="rect">
            <a:avLst/>
          </a:prstGeom>
          <a:solidFill>
            <a:srgbClr val="9B7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5935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B72CF"/>
                </a:solidFill>
                <a:latin typeface="微软雅黑"/>
                <a:ea typeface="微软雅黑"/>
              </a:rPr>
              <a:t>Gap Diagnoser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34339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E2A27"/>
                </a:solidFill>
                <a:latin typeface="微软雅黑"/>
                <a:ea typeface="微软雅黑"/>
              </a:rPr>
              <a:t>从学生原话识别 7 类缺口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{gaps[{type,evidence}], understood_level}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92040"/>
            <a:ext cx="10698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892040"/>
            <a:ext cx="91440" cy="914400"/>
          </a:xfrm>
          <a:prstGeom prst="rect">
            <a:avLst/>
          </a:prstGeom>
          <a:solidFill>
            <a:srgbClr val="57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1091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57CC99"/>
                </a:solidFill>
                <a:latin typeface="微软雅黑"/>
                <a:ea typeface="微软雅黑"/>
              </a:rPr>
              <a:t>Feynman Reviewer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9495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E2A27"/>
                </a:solidFill>
                <a:latin typeface="微软雅黑"/>
                <a:ea typeface="微软雅黑"/>
              </a:rPr>
              <a:t>扮演不懂的同桌，只在断链处打断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518464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A817C"/>
                </a:solidFill>
                <a:latin typeface="微软雅黑"/>
                <a:ea typeface="微软雅黑"/>
              </a:rPr>
              <a:t>{say, passed, stuck_at, missing}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九、体验模式：评委零门槛审核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17C"/>
                </a:solidFill>
                <a:latin typeface="微软雅黑"/>
                <a:ea typeface="微软雅黑"/>
              </a:rPr>
              <a:t>内置 5 段完整回放脚本（变量 / 密码安全 / 二进制 / 循环 / AI 初步），不需要 API Key、不依赖网络模型。</a:t>
            </a:r>
          </a:p>
        </p:txBody>
      </p:sp>
      <p:pic>
        <p:nvPicPr>
          <p:cNvPr id="6" name="Picture 5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3499" y="2331720"/>
            <a:ext cx="5844695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2E2A27"/>
                </a:solidFill>
                <a:latin typeface="微软雅黑"/>
                <a:ea typeface="微软雅黑"/>
              </a:rPr>
              <a:t>十、与已有开源项目的差异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698480" cy="45720"/>
          </a:xfrm>
          <a:prstGeom prst="rect">
            <a:avLst/>
          </a:prstGeom>
          <a:solidFill>
            <a:srgbClr val="E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17C"/>
                </a:solidFill>
                <a:latin typeface="微软雅黑"/>
                <a:ea typeface="微软雅黑"/>
              </a:rPr>
              <a:t>开源界已有苏格拉底提问与费曼技巧的「单引擎」实现，但：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91440" cy="109728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FF8A5B"/>
                </a:solidFill>
                <a:latin typeface="微软雅黑"/>
                <a:ea typeface="微软雅黑"/>
              </a:rPr>
              <a:t>① 缺口结构化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70048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把"没懂"落成 7 类可追踪、可量化、可闭合的缺口事件，而非一次性提示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11880"/>
            <a:ext cx="10698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611880"/>
            <a:ext cx="91440" cy="1097280"/>
          </a:xfrm>
          <a:prstGeom prst="rect">
            <a:avLst/>
          </a:prstGeom>
          <a:solidFill>
            <a:srgbClr val="57C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79476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57CC99"/>
                </a:solidFill>
                <a:latin typeface="微软雅黑"/>
                <a:ea typeface="微软雅黑"/>
              </a:rPr>
              <a:t>② 护栏可审计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904488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用三项指标自证"真的不给答案"，评委可当场验证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846320"/>
            <a:ext cx="91440" cy="1097280"/>
          </a:xfrm>
          <a:prstGeom prst="rect">
            <a:avLst/>
          </a:prstGeom>
          <a:solidFill>
            <a:srgbClr val="4EA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0292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4EA8DE"/>
                </a:solidFill>
                <a:latin typeface="微软雅黑"/>
                <a:ea typeface="微软雅黑"/>
              </a:rPr>
              <a:t>③ 场景落地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5138928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A27"/>
                </a:solidFill>
                <a:latin typeface="微软雅黑"/>
                <a:ea typeface="微软雅黑"/>
              </a:rPr>
              <a:t>面向小学信息科技，含儿童语言公约与挫败防护，对标 2022 义教新课标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17C"/>
                </a:solidFill>
                <a:latin typeface="微软雅黑"/>
                <a:ea typeface="微软雅黑"/>
              </a:rPr>
              <a:t>参考：socratic-workshop、m4vic/socratic、feynman-tutor、Museion 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不给答案，只问问题。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E3D3"/>
                </a:solidFill>
                <a:latin typeface="微软雅黑"/>
                <a:ea typeface="微软雅黑"/>
              </a:rPr>
              <a:t>让学生自己想明白的那一步，才是真正的学会。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114800"/>
            <a:ext cx="329184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小问号 · 苏格拉底 × 费曼 主动学习智能体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E3D3"/>
                </a:solidFill>
                <a:latin typeface="微软雅黑"/>
                <a:ea typeface="微软雅黑"/>
              </a:rPr>
              <a:t>小学 3-6 年级 信息科技 ｜ DeepSeek ｜ MIT License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